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1ff4f1690e4109" /><Relationship Type="http://schemas.openxmlformats.org/officeDocument/2006/relationships/extended-properties" Target="/docProps/app.xml" Id="Ra5fc796773f04379" /><Relationship Type="http://schemas.openxmlformats.org/officeDocument/2006/relationships/officeDocument" Target="/ppt/presentation.xml" Id="Re15f837201e746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11bc9a9fe8458c"/>
  </p:sldMasterIdLst>
  <p:notesMasterIdLst>
    <p:notesMasterId xmlns:r="http://schemas.openxmlformats.org/officeDocument/2006/relationships" r:id="Rf775aea0e0804d61"/>
  </p:notesMasterIdLst>
  <p:sldIdLst>
    <p:sldId xmlns:r="http://schemas.openxmlformats.org/officeDocument/2006/relationships" id="256" r:id="R0505172014e34dac"/>
    <p:sldId xmlns:r="http://schemas.openxmlformats.org/officeDocument/2006/relationships" id="257" r:id="Ra096ca2a51d741ad"/>
    <p:sldId xmlns:r="http://schemas.openxmlformats.org/officeDocument/2006/relationships" id="258" r:id="R29450b1317294bb6"/>
    <p:sldId xmlns:r="http://schemas.openxmlformats.org/officeDocument/2006/relationships" id="259" r:id="Rb44730c3f58c4f80"/>
    <p:sldId xmlns:r="http://schemas.openxmlformats.org/officeDocument/2006/relationships" id="260" r:id="Rf39ac676ecd0428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d375f3c5b543dd" /><Relationship Type="http://schemas.openxmlformats.org/officeDocument/2006/relationships/slideMaster" Target="/ppt/slideMasters/slideMaster1.xml" Id="Rf911bc9a9fe8458c" /><Relationship Type="http://schemas.openxmlformats.org/officeDocument/2006/relationships/notesMaster" Target="/ppt/notesMasters/notesMaster1.xml" Id="Rf775aea0e0804d61" /><Relationship Type="http://schemas.openxmlformats.org/officeDocument/2006/relationships/presProps" Target="/ppt/presProps.xml" Id="R494d182c322a48ff" /><Relationship Type="http://schemas.openxmlformats.org/officeDocument/2006/relationships/tableStyles" Target="/ppt/tableStyles.xml" Id="R30dcf456a4b5456f" /><Relationship Type="http://schemas.openxmlformats.org/officeDocument/2006/relationships/slide" Target="/ppt/slides/slide1.xml" Id="R0505172014e34dac" /><Relationship Type="http://schemas.openxmlformats.org/officeDocument/2006/relationships/slide" Target="/ppt/slides/slide2.xml" Id="Ra096ca2a51d741ad" /><Relationship Type="http://schemas.openxmlformats.org/officeDocument/2006/relationships/slide" Target="/ppt/slides/slide3.xml" Id="R29450b1317294bb6" /><Relationship Type="http://schemas.openxmlformats.org/officeDocument/2006/relationships/slide" Target="/ppt/slides/slide4.xml" Id="Rb44730c3f58c4f80" /><Relationship Type="http://schemas.openxmlformats.org/officeDocument/2006/relationships/slide" Target="/ppt/slides/slide5.xml" Id="Rf39ac676ecd042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08c01735bc4c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4a340de7ae48ea" /><Relationship Type="http://schemas.openxmlformats.org/officeDocument/2006/relationships/notesMaster" Target="/ppt/notesMasters/notesMaster1.xml" Id="R45286f28f0cc4f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0bf68fb3e64b96" /><Relationship Type="http://schemas.openxmlformats.org/officeDocument/2006/relationships/notesMaster" Target="/ppt/notesMasters/notesMaster1.xml" Id="R77131ac9117448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b2d13b0bf64f3a" /><Relationship Type="http://schemas.openxmlformats.org/officeDocument/2006/relationships/notesMaster" Target="/ppt/notesMasters/notesMaster1.xml" Id="Re14abd682f7b41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45ea4b400e4c4e" /><Relationship Type="http://schemas.openxmlformats.org/officeDocument/2006/relationships/notesMaster" Target="/ppt/notesMasters/notesMaster1.xml" Id="R19f81d7552b84e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1ad0e47d5944bc" /><Relationship Type="http://schemas.openxmlformats.org/officeDocument/2006/relationships/notesMaster" Target="/ppt/notesMasters/notesMaster1.xml" Id="R062497d3b8f14a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建议时间：25秒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老师、各位同学好，我做的是基于肝脏超声的包虫病识别，希望模型输出患病概率和简短依据。前期主要在找数据，我从公开论文和数据仓库整理了 219 张有标签图片，做了标签核对、去重和来源记录。目前拿出 8 张作为参考，其余 211 张用于开发评价。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数据来源：report/briefing-outline-and-script.md；docs/project-progress.md；report/2026-09-28-stage-report.md。</a:t>
            </a:r>
          </a:p>
          <a:p xmlns:a="http://schemas.openxmlformats.org/drawingml/2006/main">
            <a:r>
              <a:t>阈值依据：outputs/analysis/glm-deepseek-10-runs.json，2026-09-29已从原始预测记录复核。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建议时间：30秒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方法上，我搭建了统一的 Agent 流程，接入 GLM 和 DeepSeek。先比较基础判断、参考图、医学知识以及二者组合，再逐项调整。我试了四张、六张和八张参考图，也把医学提示词从长规则逐步精简。针对漏判，还加入了选择性复核：只让模型重新检查一部分初判阴性图片。最新完成了两个模型各五种配置，共十组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数据来源：report/briefing-outline-and-script.md；docs/project-progress.md；report/2026-09-28-stage-report.md。</a:t>
            </a:r>
          </a:p>
          <a:p xmlns:a="http://schemas.openxmlformats.org/drawingml/2006/main">
            <a:r>
              <a:t>阈值依据：outputs/analysis/glm-deepseek-10-runs.json，2026-09-29已从原始预测记录复核。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建议时间：约40秒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图是目前较有依据的增强方向。八张参考图使两模型的概率误差分别下降约百分之十八和十九。医学提示词方面，我先尝试较长规则，再弱化规则措辞，最后精简背景。按报告中的同轮结果，v2和v4误差升高，v3有小幅改善，但整体没有稳定增益。三轮的参考加知识也都弱于参考版。复核仍需结合阈值判断收益，下一页展示具体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医学数据依据：report/2026-09-28-stage-report.md 第3.2节。</a:t>
            </a:r>
          </a:p>
          <a:p xmlns:a="http://schemas.openxmlformats.org/drawingml/2006/main">
            <a:r>
              <a:t>v2 较长医学规则，48张：基础0.3624，参考0.3284，知识0.3988，参考＋知识0.3699。</a:t>
            </a:r>
          </a:p>
          <a:p xmlns:a="http://schemas.openxmlformats.org/drawingml/2006/main">
            <a:r>
              <a:t>v3 弱化规则措辞，48张：基础0.4230，参考0.3305，知识0.4028，参考＋知识0.3981。</a:t>
            </a:r>
          </a:p>
          <a:p xmlns:a="http://schemas.openxmlformats.org/drawingml/2006/main">
            <a:r>
              <a:t>v4 精简医学背景，201张：基础0.4977，参考0.4292，知识0.5414，参考＋知识0.4596。</a:t>
            </a:r>
          </a:p>
          <a:p xmlns:a="http://schemas.openxmlformats.org/drawingml/2006/main">
            <a:r>
              <a:t>只可同轮横向比较，不能将不同批次分数当作版本升级曲线。v3的0.4028低于同轮基础0.4230，因此标注小幅改善。报告中概括三版均未改善的文字与该表不一致，PPT以表格数字为准。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复核依据：GLM同一次运行，210张两阶段有效配对图，复核区间(0.1,0.3)纠正8次漏判、新增2次误报，净多判对6次，额外调用47次。与202张两模型共同有效图口径不同。</a:t>
            </a:r>
          </a:p>
          <a:p xmlns:a="http://schemas.openxmlformats.org/drawingml/2006/main">
            <a:r>
              <a:t>其余数字依据：docs/project-progress.md及outputs/analysis/glm-deepseek-10-runs.json。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阈值选择也很重要。在同一批图片上，GLM 基础版用默认零点五时，准确率约百分之七十二，改为零点一八后约百分之九十一。但 DeepSeek 参考版的最优阈值是零点六，不能直接套用 GLM 的值。右表固定判断阈值零点三，GLM 在零点一到零点三之间复核表现较好，扩大范围没有继续改善，DeepSeek 则暂未受益。这些是开发数据上的候选，还需要独立验证。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（不放在页面正文）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GLM 基础版最优 t∈(0.15,0.20]，其中不同子区间的 FN／FP 组成不同，但正确总数相同；表中示例选 0.18。</a:t>
            </a:r>
          </a:p>
          <a:p xmlns:a="http://schemas.openxmlformats.org/drawingml/2006/main">
            <a:r>
              <a:t>- GLM 参考版及参考＋复核 (0.1,0.3) 的最优 t∈(0.20,0.25]。</a:t>
            </a:r>
          </a:p>
          <a:p xmlns:a="http://schemas.openxmlformats.org/drawingml/2006/main">
            <a:r>
              <a:t>- DeepSeek 基础版最优 t∈(0.15,0.25]，参考版最优 t∈(0.55,0.60]。括号左开右闭来自规则 `p_he &gt;= t` 判阳性。</a:t>
            </a:r>
          </a:p>
          <a:p xmlns:a="http://schemas.openxmlformats.org/drawingml/2006/main">
            <a:r>
              <a:t>- 复核组的 90.59% 是保留实际复核区间 (0.1,0.3)，再用 t=0.25 对最终概率离线重评分的结果。**不等价于直接把在线命令的 `--threshold` 改成 0.25 重跑**，因为该参数还会改变复核上界。</a:t>
            </a:r>
          </a:p>
          <a:p xmlns:a="http://schemas.openxmlformats.org/drawingml/2006/main">
            <a:r>
              <a:t>- 改判断阈值不会改变已有概率，也不会改变其 Log loss 或 AUC。只能据此说明在这批开发标签上的分类取舍得到改善。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下界按 0.10、0.05、0 依次降低时，GLM 全部 211 张任务中的额外复核调用数为 **47／100／108**，DeepSeek 为 **36／54／65**。这是完整运行的成本，不能写成仅针对 202 张共同样本的调用数。</a:t>
            </a:r>
          </a:p>
          <a:p xmlns:a="http://schemas.openxmlformats.org/drawingml/2006/main">
            <a:r>
              <a:t>- GLM 在三个复核配置下，202 张上的 FN／FP 分别为 **9／12、9／17、9／15**。扩大范围的两组没有减少最终漏判，却有更多误报。这是跨运行观察，不能单独归因于下界。</a:t>
            </a:r>
          </a:p>
          <a:p xmlns:a="http://schemas.openxmlformats.org/drawingml/2006/main">
            <a:r>
              <a:t>- 各模型每个配置仅一次运行，202 张共同有效口径还排除了错误／弃权图。下一步应冻结同一份初判，在复核缓存覆盖足够时比较候选下界，并另报完整任务的覆盖率和调用成本。</a:t>
            </a:r>
          </a:p>
          <a:p xmlns:a="http://schemas.openxmlformats.org/drawingml/2006/main">
            <a:r>
              <a:t>- 左表单独优化每组最终判断阈值；右表固定 t=0.30 比较复核配置，两表回答的问题不同，不应混用分数。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左表相对 t=0.5 的准确率提升依次为 **18.81／8.91／10.89／6.44／0.99 个百分点**。这是判定方式的改变，不是重新调用模型后获得的新预测。</a:t>
            </a:r>
          </a:p>
          <a:p xmlns:a="http://schemas.openxmlformats.org/drawingml/2006/main">
            <a:r>
              <a:t>- 右表按“不复核／下界 0.10／0.05／0”的顺序，GLM 的 Log loss 为 **0.4288／0.4126／0.4487／0.4451**，DeepSeek 为 **0.5875／0.6159／0.6445／0.6448**。完整概率指标保留在备注，正文聚焦准确率对比。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数据来源：report/briefing-outline-and-script.md；docs/project-progress.md；report/2026-09-28-stage-report.md。</a:t>
            </a:r>
          </a:p>
          <a:p xmlns:a="http://schemas.openxmlformats.org/drawingml/2006/main">
            <a:r>
              <a:t>阈值依据：outputs/analysis/glm-deepseek-10-runs.json，2026-09-29已从原始预测记录复核。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建议时间：30秒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为第一次接触科研的本科生，我最大的感受是，数据和标签整理比预想更费时间，方法更复杂也不一定更有效。现在这些结果来自反复使用的开发数据，还需要独立病例验证。我接下来想关注两个问题：什么样的参考图真正有帮助，以及什么情况下复核值得多调用一次模型。也希望听听老师和同学对数据补充和实验设计的建议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数据来源：report/briefing-outline-and-script.md；docs/project-progress.md；report/2026-09-28-stage-report.md。</a:t>
            </a:r>
          </a:p>
          <a:p xmlns:a="http://schemas.openxmlformats.org/drawingml/2006/main">
            <a:r>
              <a:t>阈值依据：outputs/analysis/glm-deepseek-10-runs.json，2026-09-29已从原始预测记录复核。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8bef0b5ad48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b1e80548f34bdf" /><Relationship Type="http://schemas.openxmlformats.org/officeDocument/2006/relationships/slideLayout" Target="/ppt/slideLayouts/slideLayout1.xml" Id="R5fa12211757e43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12211757e43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89cb4a0a44708" /><Relationship Type="http://schemas.openxmlformats.org/officeDocument/2006/relationships/notesSlide" Target="/ppt/notesSlides/notesSlide1.xml" Id="Rd30666769b4944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b535b82f1410f" /><Relationship Type="http://schemas.openxmlformats.org/officeDocument/2006/relationships/notesSlide" Target="/ppt/notesSlides/notesSlide2.xml" Id="R78a13810d93545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4d21c1a3a4c27" /><Relationship Type="http://schemas.openxmlformats.org/officeDocument/2006/relationships/notesSlide" Target="/ppt/notesSlides/notesSlide3.xml" Id="R725798aa80b0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17be038354d7c" /><Relationship Type="http://schemas.openxmlformats.org/officeDocument/2006/relationships/notesSlide" Target="/ppt/notesSlides/notesSlide4.xml" Id="R321e3f06f92e48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70dc082bd4f57" /><Relationship Type="http://schemas.openxmlformats.org/officeDocument/2006/relationships/notesSlide" Target="/ppt/notesSlides/notesSlide5.xml" Id="R06851126658f46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4FB33-7810-4AE0-BEAE-1A79D48F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肝脏超声包虫病识别：阶段探索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13CC4-8323-440C-969A-3085A13C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396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高子淇   ·   2026.09.29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9452A-764A-456F-8F61-E76BCCC8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1352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公开数据上的方法探索；图片数不等于患者数。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0FF02-3E02-4E6A-8C8F-8DED1FBC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05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2C43A-42A9-4CCB-8D53-021165D6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输入肝脏超声图像，输出患病估计概率与影像依据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788B0-5D36-45C3-947C-AE8A4BF4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10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10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42C0D-403B-4956-BD61-4EC0021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张有标签图像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1A9AC-9AE0-4546-9324-8B5E3A0F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105 阳性 / 114 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FB8A5-E6BB-4926-A618-B3CF87FB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EE478-F959-4260-9A14-ACA28D29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张参考图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5BB52-BA42-41AF-946A-20AFD1A3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4 阳性 / 4 阴性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934B7-9CFF-4649-B3F4-BDE9B3B5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211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46F59-648A-4421-B9B8-11520C3A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101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张开发评价图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3A7C7-EE10-4E56-8BB5-6E01DD18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4102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固定样本与运行顺序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184E7-0CD5-44D0-A1F2-00C04908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核对诊断标签、去重、统一命名并保留来源记录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CFBA1-7696-4756-A177-4633003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381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来源：HE_DCNN、Bioengineering 补充材料、PMC 与 Zenodo</a:t>
            </a:r>
          </a:p>
        </p:txBody>
      </p:sp>
    </p:spTree>
    <p:extLst>
      <p:ext uri="{BB962C8B-B14F-4D97-AF65-F5344CB8AC3E}">
        <p14:creationId xmlns:p14="http://schemas.microsoft.com/office/powerpoint/2010/main" val="143569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E1594-F03A-46A6-AAE3-A2BE7AB4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围绕参考图、医学知识和复核开展对照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2DC47-30D6-499C-9490-E697B2E6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396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统一 Agent 流程，接入 GLM 与 DeepSeek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62DA0-B130-4E67-9554-52C520CA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1352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四模式历史实验以 GLM 为主；最新两模型对照为每模型 5 种配置，共 10 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87CF0-EA3A-42B3-B2C1-B30740C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05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2FBC-EAA8-4536-B228-5D108B54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四种输入模式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3786A-9E8B-41BD-AABD-474BC56E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66675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基础判断</a:t>
            </a:r>
          </a:p>
          <a:p xmlns:a="http://schemas.openxmlformats.org/drawingml/2006/main">
            <a:pPr>
              <a:buNone/>
              <a:def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参考图增强</a:t>
            </a:r>
          </a:p>
          <a:p xmlns:a="http://schemas.openxmlformats.org/drawingml/2006/main">
            <a:pPr>
              <a:buNone/>
              <a:def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医学知识增强</a:t>
            </a:r>
          </a:p>
          <a:p xmlns:a="http://schemas.openxmlformats.org/drawingml/2006/main">
            <a:pPr>
              <a:buNone/>
              <a:def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参考图＋医学知识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88959-5AA8-411D-9012-10F85D80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统一记录概率、错误和调用用量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96B0E-4E31-4C4A-95F3-4EB9917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逐项实验与调整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DF77C-B3A8-4C32-B410-40208BA4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参考数量：4 / 6 / 8 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917AD-332A-4DAA-A9BE-05774D72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医学提示词：长规则、弱化措辞、精简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AFD08-F0E4-41CA-BFEC-4B216CCC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专家模型训练探索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3D0D9-28B2-47F3-AC6D-06969C3E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625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判断阈值与复核区间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9186D-D45F-42B2-AFF3-FB447F96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29425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选择性复核：只重看指定概率区间内的初判阴性图像</a:t>
            </a:r>
          </a:p>
        </p:txBody>
      </p:sp>
    </p:spTree>
    <p:extLst>
      <p:ext uri="{BB962C8B-B14F-4D97-AF65-F5344CB8AC3E}">
        <p14:creationId xmlns:p14="http://schemas.microsoft.com/office/powerpoint/2010/main" val="180485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EE802-3619-45EC-8DBC-83661454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参考图是目前较有依据的增强方向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9F80A-B4BB-4DC5-97F7-22CC2441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396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两模型最新对照：202 张共同有效图像；Log loss 越低越好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F43DE-1D56-42FE-B7AE-9F61236C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1352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探索性开发结果，尚无独立最终测试。模式间阈值不同，各块样本口径独立。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F4598-198C-4D50-BDD3-B4FA94D3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05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4020800" cy="1962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476500"/>
                <a:gridCol w="2476500"/>
                <a:gridCol w="2095500"/>
                <a:gridCol w="2095500"/>
                <a:gridCol w="2876550"/>
              </a:tblGrid>
              <a:tr h="781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基础准确率</a:t>
                      </a:r>
                    </a:p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t=0.18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 图准确率</a:t>
                      </a:r>
                    </a:p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t=0.25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基础 loss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 图 loss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loss 相对下降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GLM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90.59%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89.60%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0.521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0.429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17.7%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DeepSeek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65.84%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65.35%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0.722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0.588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18.6%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FB5E1-A4C8-4BEC-8F2D-0EF989C3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参考图数量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23593-9AF2-4C83-9E64-AB9CD31A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52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GLM 两轮，同一批 201 张共同有效图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609600" y="5581650"/>
          <a:ext xmlns:a="http://schemas.openxmlformats.org/drawingml/2006/main" cx="6486525" cy="1162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590675"/>
                <a:gridCol w="1590675"/>
                <a:gridCol w="1590675"/>
              </a:tblGrid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参考数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张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 张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 张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 loss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0.4605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0.4285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0.4249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E2700-BB98-4C8F-8152-0699923B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0087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两轮均观察到 loss 随参考数增加而下降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7C86F-17C5-4E5E-B404-42253ADB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577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医学知识与复核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9693C-7DC2-404F-A4F0-4AC97841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v2 / v3：48 图；v4：201 图；仅同轮横向比较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7962900" y="5362575"/>
          <a:ext xmlns:a="http://schemas.openxmlformats.org/drawingml/2006/main" cx="6667500" cy="1695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285875"/>
                <a:gridCol w="1285875"/>
                <a:gridCol w="1619250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版本与特点</a:t>
                      </a:r>
                    </a:p>
                  </a:txBody>
                  <a:tcPr marL="95250" marR="95250" marT="76200" marB="571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基础 loss</a:t>
                      </a:r>
                    </a:p>
                  </a:txBody>
                  <a:tcPr marL="95250" marR="95250" marT="76200" marB="571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知识 loss</a:t>
                      </a:r>
                    </a:p>
                  </a:txBody>
                  <a:tcPr marL="95250" marR="95250" marT="76200" marB="571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同轮效果</a:t>
                      </a:r>
                    </a:p>
                  </a:txBody>
                  <a:tcPr marL="95250" marR="95250" marT="76200" marB="57150">
                    <a:solidFill>
                      <a:srgbClr val="173B42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v2 较长医学规则</a:t>
                      </a:r>
                    </a:p>
                  </a:txBody>
                  <a:tcPr marL="952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0.3624</a:t>
                      </a:r>
                    </a:p>
                  </a:txBody>
                  <a:tcPr marL="952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0.3988</a:t>
                      </a:r>
                    </a:p>
                  </a:txBody>
                  <a:tcPr marL="952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误差升高</a:t>
                      </a:r>
                    </a:p>
                  </a:txBody>
                  <a:tcPr marL="95250" marR="95250" marT="7620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v3 弱化规则措辞</a:t>
                      </a:r>
                    </a:p>
                  </a:txBody>
                  <a:tcPr marL="95250" marR="95250" marT="76200" marB="571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0.4230</a:t>
                      </a:r>
                    </a:p>
                  </a:txBody>
                  <a:tcPr marL="95250" marR="95250" marT="76200" marB="571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0.4028</a:t>
                      </a:r>
                    </a:p>
                  </a:txBody>
                  <a:tcPr marL="95250" marR="95250" marT="76200" marB="571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小幅改善</a:t>
                      </a:r>
                    </a:p>
                  </a:txBody>
                  <a:tcPr marL="95250" marR="95250" marT="76200" marB="57150">
                    <a:solidFill>
                      <a:srgbClr val="F0F6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v4 精简医学背景</a:t>
                      </a:r>
                    </a:p>
                  </a:txBody>
                  <a:tcPr marL="952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0.4977</a:t>
                      </a:r>
                    </a:p>
                  </a:txBody>
                  <a:tcPr marL="952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0.5414</a:t>
                      </a:r>
                    </a:p>
                  </a:txBody>
                  <a:tcPr marL="952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误差升高</a:t>
                      </a:r>
                    </a:p>
                  </a:txBody>
                  <a:tcPr marL="95250" marR="95250" marT="7620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A74E3-4CEB-4B69-ACA0-216646C9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143750"/>
            <a:ext cx="666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提示词调整尚未获得稳定增益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76258-39F0-4E26-9A8E-9BA6F61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4961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复核：净增 6 次正确，额外调用 47 次（n=210）</a:t>
            </a:r>
          </a:p>
        </p:txBody>
      </p:sp>
    </p:spTree>
    <p:extLst>
      <p:ext uri="{BB962C8B-B14F-4D97-AF65-F5344CB8AC3E}">
        <p14:creationId xmlns:p14="http://schemas.microsoft.com/office/powerpoint/2010/main" val="1015533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B2D38-CAA0-40F7-9C8D-F22DAB0B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判断阈值需分别选择，扩大复核范围未必更好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86057-65D2-4500-9B50-8982B331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396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两表使用同一批 202 张共同有效图像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5CEE4-A691-4441-AF75-C5B12D2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1352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开发数据事后最优，尚未独立验证；复核各组独立初判，差异包含生成波动。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CE140-889F-455F-9149-E25FF8A2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05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6652A-2FBD-49A8-9EBE-F57791BC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判断阈值：各组选事后最优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0E89C-826D-4D8F-8E90-279F3F9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复核范围：固定 t=0.30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83820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1847850"/>
                <a:gridCol w="1419225"/>
                <a:gridCol w="2114550"/>
              </a:tblGrid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模型／配置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t=0.5</a:t>
                      </a:r>
                    </a:p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准确率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 t</a:t>
                      </a:r>
                    </a:p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示例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</a:t>
                      </a:r>
                    </a:p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准确率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GLM 基础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71.78%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0.18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90.59%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GLM 参考 8 图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80.69%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0.25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89.60%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GLM 8 图＋复核*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79.70%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0.25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90.59%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DeepSeek 基础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59.41%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0.18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65.84%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DeepSeek 参考 8 图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68.81%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0.60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69.80%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/>
          <p:cNvGraphicFramePr/>
          <p:nvPr/>
        </p:nvGraphicFramePr>
        <p:xfrm>
          <a:off xmlns:a="http://schemas.openxmlformats.org/drawingml/2006/main" x="9505950" y="2724150"/>
          <a:ext xmlns:a="http://schemas.openxmlformats.org/drawingml/2006/main" cx="512445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8350"/>
                <a:gridCol w="1485900"/>
                <a:gridCol w="1600200"/>
              </a:tblGrid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复核区间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GLM</a:t>
                      </a:r>
                    </a:p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准确率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DeepSeek</a:t>
                      </a:r>
                    </a:p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准确率</a:t>
                      </a:r>
                    </a:p>
                  </a:txBody>
                  <a:tcPr marL="114300" marR="114300" marT="114300" marB="95250">
                    <a:solidFill>
                      <a:srgbClr val="173B4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不复核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87.13%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66.34%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(0.10, 0.30)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8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89.60%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63.37%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(0.05, 0.30)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87.13%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60.89%</a:t>
                      </a:r>
                    </a:p>
                  </a:txBody>
                  <a:tcPr marL="114300" marR="114300" marT="114300" marB="9525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(0, 0.30)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88.12%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B454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63.86%</a:t>
                      </a:r>
                    </a:p>
                  </a:txBody>
                  <a:tcPr marL="114300" marR="114300" marT="114300" marB="95250">
                    <a:solidFill>
                      <a:srgbClr val="F0F6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B662C-2775-45B4-AA7D-ED0AB2F8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851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* 保持复核区间 (0.1,0.3)，仅离线改最终判断阈值。</a:t>
            </a:r>
          </a:p>
          <a:p xmlns:a="http://schemas.openxmlformats.org/drawingml/2006/main">
            <a:pPr>
              <a:buNone/>
              <a:defRPr sz="165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最优 t 为并列最优值中的一个示例。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CCEFA-C6F7-491F-9184-5B5DA6D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7695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均使用 8 张参考图</a:t>
            </a:r>
          </a:p>
          <a:p xmlns:a="http://schemas.openxmlformats.org/drawingml/2006/main">
            <a:pPr>
              <a:buNone/>
              <a:defRPr sz="180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复核上界固定为 0.30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44F38-3F87-4454-BA84-FFCAC712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43775"/>
            <a:ext cx="1402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GLM 基础版提高 18.81 个百分点；较窄复核区间更有希望</a:t>
            </a:r>
          </a:p>
        </p:txBody>
      </p:sp>
    </p:spTree>
    <p:extLst>
      <p:ext uri="{BB962C8B-B14F-4D97-AF65-F5344CB8AC3E}">
        <p14:creationId xmlns:p14="http://schemas.microsoft.com/office/powerpoint/2010/main" val="207552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BADEE-3E65-41A3-9EFD-E2AA1CE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更关注结果为什么改善，以及是否可靠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0B1E3-720B-40DA-BEEF-9E5119AA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396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第一次科研实践中的认识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312AD-2103-4D58-9F32-DE5AB458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1352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2777B"/>
                </a:solidFill>
                <a:latin typeface="Hiragino Sans GB"/>
                <a:ea typeface="Hiragino Sans GB"/>
                <a:cs typeface="Hiragino Sans GB"/>
              </a:rPr>
              <a:t>下一步：冻结参考图、提示词与阈值，再用独立数据验证。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8ABED-6E40-456B-84EC-CD031F41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05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443AB-1477-470B-8E90-4B0719A0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过程感受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69A7A-0206-49FB-BD76-EB132EB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数据和标签整理比预想更费时间</a:t>
            </a:r>
          </a:p>
          <a:p xmlns:a="http://schemas.openxmlformats.org/drawingml/2006/main">
            <a:pPr>
              <a:buNone/>
              <a:def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73B42"/>
                </a:solidFill>
                <a:latin typeface="Hiragino Sans GB"/>
                <a:ea typeface="Hiragino Sans GB"/>
                <a:cs typeface="Hiragino Sans GB"/>
              </a:rPr>
              <a:t>方法更复杂，并不一定更有效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BD4E4-7DA5-4C65-AA8D-804CC4DD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当前不足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7AD95-E770-41BD-B2C6-19DE001F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数据量小，来源与类别相关</a:t>
            </a:r>
          </a:p>
          <a:p xmlns:a="http://schemas.openxmlformats.org/drawingml/2006/main">
            <a:pPr>
              <a:buNone/>
              <a:defRPr sz="25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开发数据反复使用，尚需独立验证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97598-BFE3-4E2C-88BF-9DBE018E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87F83"/>
                </a:solidFill>
                <a:latin typeface="Hiragino Sans GB"/>
                <a:ea typeface="Hiragino Sans GB"/>
                <a:cs typeface="Hiragino Sans GB"/>
              </a:rPr>
              <a:t>下一步兴趣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6D4BC-191F-4E51-8404-6B8E9580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48350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补充更可信的数据，研究什么参考图有帮助</a:t>
            </a:r>
          </a:p>
          <a:p xmlns:a="http://schemas.openxmlformats.org/drawingml/2006/main">
            <a:pPr>
              <a:buNone/>
              <a:defRPr sz="25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B454B"/>
                </a:solidFill>
                <a:latin typeface="Hiragino Sans GB"/>
                <a:ea typeface="Hiragino Sans GB"/>
                <a:cs typeface="Hiragino Sans GB"/>
              </a:rPr>
              <a:t>以及何时值得让模型再看一次</a:t>
            </a:r>
          </a:p>
        </p:txBody>
      </p:sp>
    </p:spTree>
    <p:extLst>
      <p:ext uri="{BB962C8B-B14F-4D97-AF65-F5344CB8AC3E}">
        <p14:creationId xmlns:p14="http://schemas.microsoft.com/office/powerpoint/2010/main" val="1190303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2026-09-29T06:40:59.6460000Z</dcterms:created>
  <dcterms:modified xsi:type="dcterms:W3CDTF">2026-09-29T06:40:59.6460000Z</dcterms:modified>
</coreProperties>
</file>